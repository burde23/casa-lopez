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0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ovo l490" userId="210815e4915f5852" providerId="LiveId" clId="{5A53134B-E807-4126-B42B-5D06728E0375}"/>
    <pc:docChg chg="undo custSel modSld">
      <pc:chgData name="lenovo l490" userId="210815e4915f5852" providerId="LiveId" clId="{5A53134B-E807-4126-B42B-5D06728E0375}" dt="2026-09-23T00:16:30.393" v="426" actId="20577"/>
      <pc:docMkLst>
        <pc:docMk/>
      </pc:docMkLst>
      <pc:sldChg chg="addSp modSp mod">
        <pc:chgData name="lenovo l490" userId="210815e4915f5852" providerId="LiveId" clId="{5A53134B-E807-4126-B42B-5D06728E0375}" dt="2026-08-24T18:00:12.650" v="311" actId="571"/>
        <pc:sldMkLst>
          <pc:docMk/>
          <pc:sldMk cId="0" sldId="259"/>
        </pc:sldMkLst>
        <pc:spChg chg="mod">
          <ac:chgData name="lenovo l490" userId="210815e4915f5852" providerId="LiveId" clId="{5A53134B-E807-4126-B42B-5D06728E0375}" dt="2026-08-24T17:56:01.702" v="265" actId="208"/>
          <ac:spMkLst>
            <pc:docMk/>
            <pc:sldMk cId="0" sldId="259"/>
            <ac:spMk id="2" creationId="{00000000-0000-0000-0000-000000000000}"/>
          </ac:spMkLst>
        </pc:spChg>
        <pc:spChg chg="mod">
          <ac:chgData name="lenovo l490" userId="210815e4915f5852" providerId="LiveId" clId="{5A53134B-E807-4126-B42B-5D06728E0375}" dt="2026-08-24T17:58:08.574" v="276" actId="207"/>
          <ac:spMkLst>
            <pc:docMk/>
            <pc:sldMk cId="0" sldId="259"/>
            <ac:spMk id="13" creationId="{00000000-0000-0000-0000-000000000000}"/>
          </ac:spMkLst>
        </pc:spChg>
        <pc:picChg chg="mod ord">
          <ac:chgData name="lenovo l490" userId="210815e4915f5852" providerId="LiveId" clId="{5A53134B-E807-4126-B42B-5D06728E0375}" dt="2026-08-24T18:00:09.965" v="305" actId="166"/>
          <ac:picMkLst>
            <pc:docMk/>
            <pc:sldMk cId="0" sldId="259"/>
            <ac:picMk id="15" creationId="{00000000-0000-0000-0000-000000000000}"/>
          </ac:picMkLst>
        </pc:picChg>
      </pc:sldChg>
      <pc:sldChg chg="modSp mod">
        <pc:chgData name="lenovo l490" userId="210815e4915f5852" providerId="LiveId" clId="{5A53134B-E807-4126-B42B-5D06728E0375}" dt="2026-08-28T01:07:38.333" v="421" actId="20577"/>
        <pc:sldMkLst>
          <pc:docMk/>
          <pc:sldMk cId="0" sldId="262"/>
        </pc:sldMkLst>
        <pc:spChg chg="mod">
          <ac:chgData name="lenovo l490" userId="210815e4915f5852" providerId="LiveId" clId="{5A53134B-E807-4126-B42B-5D06728E0375}" dt="2026-08-25T22:50:38.951" v="315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lenovo l490" userId="210815e4915f5852" providerId="LiveId" clId="{5A53134B-E807-4126-B42B-5D06728E0375}" dt="2026-08-28T01:06:50.705" v="351" actId="20577"/>
          <ac:spMkLst>
            <pc:docMk/>
            <pc:sldMk cId="0" sldId="262"/>
            <ac:spMk id="35" creationId="{00000000-0000-0000-0000-000000000000}"/>
          </ac:spMkLst>
        </pc:spChg>
        <pc:spChg chg="mod">
          <ac:chgData name="lenovo l490" userId="210815e4915f5852" providerId="LiveId" clId="{5A53134B-E807-4126-B42B-5D06728E0375}" dt="2026-08-28T01:07:38.333" v="421" actId="20577"/>
          <ac:spMkLst>
            <pc:docMk/>
            <pc:sldMk cId="0" sldId="262"/>
            <ac:spMk id="39" creationId="{00000000-0000-0000-0000-000000000000}"/>
          </ac:spMkLst>
        </pc:spChg>
      </pc:sldChg>
      <pc:sldChg chg="modSp mod">
        <pc:chgData name="lenovo l490" userId="210815e4915f5852" providerId="LiveId" clId="{5A53134B-E807-4126-B42B-5D06728E0375}" dt="2026-08-26T21:02:34.692" v="325" actId="20577"/>
        <pc:sldMkLst>
          <pc:docMk/>
          <pc:sldMk cId="0" sldId="263"/>
        </pc:sldMkLst>
        <pc:spChg chg="mod">
          <ac:chgData name="lenovo l490" userId="210815e4915f5852" providerId="LiveId" clId="{5A53134B-E807-4126-B42B-5D06728E0375}" dt="2026-08-26T21:02:34.692" v="325" actId="20577"/>
          <ac:spMkLst>
            <pc:docMk/>
            <pc:sldMk cId="0" sldId="263"/>
            <ac:spMk id="15" creationId="{00000000-0000-0000-0000-000000000000}"/>
          </ac:spMkLst>
        </pc:spChg>
      </pc:sldChg>
      <pc:sldChg chg="modSp mod">
        <pc:chgData name="lenovo l490" userId="210815e4915f5852" providerId="LiveId" clId="{5A53134B-E807-4126-B42B-5D06728E0375}" dt="2026-09-23T00:16:30.393" v="426" actId="20577"/>
        <pc:sldMkLst>
          <pc:docMk/>
          <pc:sldMk cId="0" sldId="264"/>
        </pc:sldMkLst>
        <pc:spChg chg="mod">
          <ac:chgData name="lenovo l490" userId="210815e4915f5852" providerId="LiveId" clId="{5A53134B-E807-4126-B42B-5D06728E0375}" dt="2026-09-23T00:16:30.393" v="426" actId="20577"/>
          <ac:spMkLst>
            <pc:docMk/>
            <pc:sldMk cId="0" sldId="26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0096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1A14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144000" y="-2377440"/>
            <a:ext cx="5486400" cy="5486400"/>
          </a:xfrm>
          <a:prstGeom prst="ellipse">
            <a:avLst/>
          </a:prstGeom>
          <a:solidFill>
            <a:srgbClr val="1A14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37744" cy="237744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02920" y="4434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2469" y="411480"/>
            <a:ext cx="15926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1600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C9A8C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PROPUESTA · CASA LÓPEZ POSADA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508020"/>
            <a:ext cx="10667695" cy="753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3800" b="1" kern="0" spc="-12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Casa López Posada</a:t>
            </a:r>
          </a:p>
        </p:txBody>
      </p:sp>
      <p:sp>
        <p:nvSpPr>
          <p:cNvPr id="17" name="Plus Sign"/>
          <p:cNvSpPr/>
          <p:nvPr/>
        </p:nvSpPr>
        <p:spPr>
          <a:xfrm>
            <a:off x="4596826" y="3520440"/>
            <a:ext cx="400000" cy="4604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kern="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095500" y="4381500"/>
            <a:ext cx="8000695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999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Landing page y motor de reservas para Casa López Posada. Infraestructura propia, cero comisiones, resultados reales.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98568" y="5486400"/>
            <a:ext cx="2194560" cy="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0" y="56692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 López Posada  ×  Burdev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 2026 Burdev</a:t>
            </a:r>
            <a:endParaRPr lang="en-US" sz="950" dirty="0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8A2FE41-2A43-5480-1EE2-C310B109F28D}"/>
              </a:ext>
            </a:extLst>
          </p:cNvPr>
          <p:cNvSpPr/>
          <p:nvPr/>
        </p:nvSpPr>
        <p:spPr>
          <a:xfrm>
            <a:off x="5076826" y="3520440"/>
            <a:ext cx="449834" cy="460467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D1D43F15-1EBD-3E2E-B179-5AF1339D7264}"/>
              </a:ext>
            </a:extLst>
          </p:cNvPr>
          <p:cNvSpPr/>
          <p:nvPr/>
        </p:nvSpPr>
        <p:spPr>
          <a:xfrm>
            <a:off x="5076826" y="3520440"/>
            <a:ext cx="461656" cy="460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28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272CDD80-BFF3-2E3E-17CD-2EBC26FB560A}"/>
              </a:ext>
            </a:extLst>
          </p:cNvPr>
          <p:cNvSpPr/>
          <p:nvPr/>
        </p:nvSpPr>
        <p:spPr>
          <a:xfrm>
            <a:off x="5538482" y="3512798"/>
            <a:ext cx="2400000" cy="460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sz="3600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sz="3600" dirty="0">
              <a:solidFill>
                <a:srgbClr val="E8006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502920" y="557784"/>
            <a:ext cx="201168" cy="0"/>
          </a:xfrm>
          <a:prstGeom prst="line">
            <a:avLst/>
          </a:prstGeom>
          <a:noFill/>
          <a:ln w="19050">
            <a:solidFill>
              <a:srgbClr val="E8006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457200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 QUE VEMOS HOY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22960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kern="0" spc="-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El diagnóstico.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4284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Cuatro fricciones que hoy le cuestan tiempo, plata y control de marca a la posada.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1185855" cy="3977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3299384" y="1965960"/>
            <a:ext cx="0" cy="3977640"/>
          </a:xfrm>
          <a:prstGeom prst="line">
            <a:avLst/>
          </a:prstGeom>
          <a:noFill/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6095848" y="1965960"/>
            <a:ext cx="0" cy="3977640"/>
          </a:xfrm>
          <a:prstGeom prst="line">
            <a:avLst/>
          </a:prstGeom>
          <a:noFill/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8892311" y="1965960"/>
            <a:ext cx="0" cy="3977640"/>
          </a:xfrm>
          <a:prstGeom prst="line">
            <a:avLst/>
          </a:prstGeom>
          <a:noFill/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758952" y="2240280"/>
            <a:ext cx="2339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50" dirty="0">
                <a:solidFill>
                  <a:srgbClr val="000000">
                    <a:alpha val="8000"/>
                  </a:srgbClr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58952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3" name="Image 0" descr="/home/claude/hostel_deck/icons/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13182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952" y="3657600"/>
            <a:ext cx="2293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Dependencia total de Booking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58952" y="4480560"/>
            <a:ext cx="2293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Casi todas las reservas dependen de una sola plataforma externa.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911596"/>
            <a:ext cx="2796464" cy="32004"/>
          </a:xfrm>
          <a:prstGeom prst="rect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4"/>
          <p:cNvSpPr/>
          <p:nvPr/>
        </p:nvSpPr>
        <p:spPr>
          <a:xfrm>
            <a:off x="3555416" y="2240280"/>
            <a:ext cx="2339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50" dirty="0">
                <a:solidFill>
                  <a:srgbClr val="000000">
                    <a:alpha val="8000"/>
                  </a:srgbClr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02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3555416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9" name="Image 1" descr="/home/claude/hostel_deck/icons/per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716" y="313182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55416" y="3657600"/>
            <a:ext cx="2293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Comisiones por reserva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3555416" y="4480560"/>
            <a:ext cx="2293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-20% de cada reserva se va en comisiones a las OTAs, siempre.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299384" y="5911596"/>
            <a:ext cx="2796464" cy="32004"/>
          </a:xfrm>
          <a:prstGeom prst="rect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19"/>
          <p:cNvSpPr/>
          <p:nvPr/>
        </p:nvSpPr>
        <p:spPr>
          <a:xfrm>
            <a:off x="6351880" y="2240280"/>
            <a:ext cx="2339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50" dirty="0">
                <a:solidFill>
                  <a:srgbClr val="000000">
                    <a:alpha val="8000"/>
                  </a:srgbClr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Shape 20"/>
          <p:cNvSpPr/>
          <p:nvPr/>
        </p:nvSpPr>
        <p:spPr>
          <a:xfrm>
            <a:off x="6351880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5" name="Image 2" descr="/home/claude/hostel_deck/icons/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180" y="313182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1880" y="3657600"/>
            <a:ext cx="2293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control de marca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351880" y="4480560"/>
            <a:ext cx="2293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presentación de la posada queda limitada al formato de terceros.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095848" y="5911596"/>
            <a:ext cx="2796464" cy="32004"/>
          </a:xfrm>
          <a:prstGeom prst="rect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Text 24"/>
          <p:cNvSpPr/>
          <p:nvPr/>
        </p:nvSpPr>
        <p:spPr>
          <a:xfrm>
            <a:off x="9148343" y="2240280"/>
            <a:ext cx="2339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50" dirty="0">
                <a:solidFill>
                  <a:srgbClr val="000000">
                    <a:alpha val="8000"/>
                  </a:srgbClr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04</a:t>
            </a:r>
            <a:endParaRPr lang="en-US" sz="3400" dirty="0"/>
          </a:p>
        </p:txBody>
      </p:sp>
      <p:sp>
        <p:nvSpPr>
          <p:cNvPr id="30" name="Shape 25"/>
          <p:cNvSpPr/>
          <p:nvPr/>
        </p:nvSpPr>
        <p:spPr>
          <a:xfrm>
            <a:off x="9148343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1" name="Image 3" descr="/home/claude/hostel_deck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643" y="313182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48343" y="3657600"/>
            <a:ext cx="2293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Experiencia pre-reserva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9148343" y="4480560"/>
            <a:ext cx="2293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primer contacto no refleja la calidez del lugar y no permite señar online 24/7.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892311" y="5911596"/>
            <a:ext cx="2796464" cy="32004"/>
          </a:xfrm>
          <a:prstGeom prst="rect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5" name="Shape 29"/>
          <p:cNvSpPr/>
          <p:nvPr/>
        </p:nvSpPr>
        <p:spPr>
          <a:xfrm>
            <a:off x="502920" y="6199632"/>
            <a:ext cx="237744" cy="237744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0"/>
          <p:cNvSpPr/>
          <p:nvPr/>
        </p:nvSpPr>
        <p:spPr>
          <a:xfrm>
            <a:off x="502920" y="6208776"/>
            <a:ext cx="23774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04088" y="6153912"/>
            <a:ext cx="1429512" cy="327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 López Posada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502920" y="694944"/>
            <a:ext cx="201168" cy="0"/>
          </a:xfrm>
          <a:prstGeom prst="line">
            <a:avLst/>
          </a:prstGeom>
          <a:noFill/>
          <a:ln w="19050">
            <a:solidFill>
              <a:srgbClr val="E8006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594360"/>
            <a:ext cx="510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PROPUESTA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923544"/>
            <a:ext cx="5394960" cy="949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kern="0" spc="-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Una web que</a:t>
            </a:r>
            <a:endParaRPr lang="en-US" sz="3000" dirty="0"/>
          </a:p>
          <a:p>
            <a:pPr marL="0" indent="0">
              <a:lnSpc>
                <a:spcPts val="3200"/>
              </a:lnSpc>
              <a:buNone/>
            </a:pPr>
            <a:r>
              <a:rPr lang="en-US" sz="3000" b="1" kern="0" spc="-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es 100% suya.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94665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Landing Page de alta conversión + motor de reservas (Cloudbeds o PMS propia iCal), adaptado a la estética de Casa López.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520440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8" name="Image 0" descr="/home/claude/hostel_deck/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625596"/>
            <a:ext cx="210312" cy="210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52044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Fotos propias de la posada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1422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1" name="Image 1" descr="/home/claude/hostel_deck/icons/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4247388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414223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Testimonios reales de huéspedes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4764024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 2" descr="/home/claude/hostel_deck/icons/map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4869180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476402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Ubicación y mapa integrados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0" y="868680"/>
            <a:ext cx="5257800" cy="5212080"/>
          </a:xfrm>
          <a:prstGeom prst="roundRect">
            <a:avLst>
              <a:gd name="adj" fmla="val 2807"/>
            </a:avLst>
          </a:prstGeom>
          <a:solidFill>
            <a:srgbClr val="0B0B12"/>
          </a:solidFill>
          <a:ln/>
          <a:effectLst>
            <a:outerShdw blurRad="228600" dist="762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2"/>
          <p:cNvSpPr/>
          <p:nvPr/>
        </p:nvSpPr>
        <p:spPr>
          <a:xfrm>
            <a:off x="6400800" y="868680"/>
            <a:ext cx="5257800" cy="402336"/>
          </a:xfrm>
          <a:prstGeom prst="rect">
            <a:avLst/>
          </a:prstGeom>
          <a:solidFill>
            <a:srgbClr val="1A1A2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Shape 13"/>
          <p:cNvSpPr/>
          <p:nvPr/>
        </p:nvSpPr>
        <p:spPr>
          <a:xfrm>
            <a:off x="6601968" y="101955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4"/>
          <p:cNvSpPr/>
          <p:nvPr/>
        </p:nvSpPr>
        <p:spPr>
          <a:xfrm>
            <a:off x="6803136" y="101955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5"/>
          <p:cNvSpPr/>
          <p:nvPr/>
        </p:nvSpPr>
        <p:spPr>
          <a:xfrm>
            <a:off x="7004304" y="101955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Shape 16"/>
          <p:cNvSpPr/>
          <p:nvPr/>
        </p:nvSpPr>
        <p:spPr>
          <a:xfrm>
            <a:off x="8138160" y="950976"/>
            <a:ext cx="2880360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Text 17"/>
          <p:cNvSpPr/>
          <p:nvPr/>
        </p:nvSpPr>
        <p:spPr>
          <a:xfrm>
            <a:off x="8138160" y="950976"/>
            <a:ext cx="2880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casalopezchacras.com.ar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720840" y="1545336"/>
            <a:ext cx="4617720" cy="1828800"/>
          </a:xfrm>
          <a:prstGeom prst="roundRect">
            <a:avLst>
              <a:gd name="adj" fmla="val 4000"/>
            </a:avLst>
          </a:prstGeom>
          <a:solidFill>
            <a:srgbClr val="FBE9F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Shape 19"/>
          <p:cNvSpPr/>
          <p:nvPr/>
        </p:nvSpPr>
        <p:spPr>
          <a:xfrm>
            <a:off x="8737092" y="2139696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5" name="Image 3" descr="/home/claude/hostel_deck/icons/ho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3396" y="228600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0840" y="3557016"/>
            <a:ext cx="4617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Casa López Posada</a:t>
            </a:r>
            <a:endParaRPr lang="en-US" sz="1700" dirty="0"/>
          </a:p>
          <a:p>
            <a:pPr marL="0" indent="0" algn="ctr">
              <a:lnSpc>
                <a:spcPts val="2000"/>
              </a:lnSpc>
              <a:buNone/>
            </a:pP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720840" y="412394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Chacras de Coria, Mendoza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8023860" y="4517136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Text 23"/>
          <p:cNvSpPr/>
          <p:nvPr/>
        </p:nvSpPr>
        <p:spPr>
          <a:xfrm>
            <a:off x="8023860" y="45171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Reservar ahora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995160" y="5202936"/>
            <a:ext cx="406908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Shape 25"/>
          <p:cNvSpPr/>
          <p:nvPr/>
        </p:nvSpPr>
        <p:spPr>
          <a:xfrm>
            <a:off x="6995160" y="5404104"/>
            <a:ext cx="2644902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Shape 26"/>
          <p:cNvSpPr/>
          <p:nvPr/>
        </p:nvSpPr>
        <p:spPr>
          <a:xfrm>
            <a:off x="10789920" y="1435608"/>
            <a:ext cx="594360" cy="274320"/>
          </a:xfrm>
          <a:prstGeom prst="roundRect">
            <a:avLst>
              <a:gd name="adj" fmla="val 50000"/>
            </a:avLst>
          </a:prstGeom>
          <a:solidFill>
            <a:srgbClr val="113322"/>
          </a:solidFill>
          <a:ln w="9525">
            <a:solidFill>
              <a:srgbClr val="00B87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27"/>
          <p:cNvSpPr/>
          <p:nvPr/>
        </p:nvSpPr>
        <p:spPr>
          <a:xfrm>
            <a:off x="10881360" y="1554480"/>
            <a:ext cx="54864" cy="54864"/>
          </a:xfrm>
          <a:prstGeom prst="ellipse">
            <a:avLst/>
          </a:prstGeom>
          <a:solidFill>
            <a:srgbClr val="00B87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4" name="Text 28"/>
          <p:cNvSpPr/>
          <p:nvPr/>
        </p:nvSpPr>
        <p:spPr>
          <a:xfrm>
            <a:off x="10981944" y="1417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87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02920" y="6199632"/>
            <a:ext cx="237744" cy="237744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0"/>
          <p:cNvSpPr/>
          <p:nvPr/>
        </p:nvSpPr>
        <p:spPr>
          <a:xfrm>
            <a:off x="502920" y="6199632"/>
            <a:ext cx="23774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40664" y="6180582"/>
            <a:ext cx="125958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 López Posada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>
            <a:solidFill>
              <a:srgbClr val="E8006E"/>
            </a:solidFill>
          </a:ln>
        </p:spPr>
        <p:txBody>
          <a:bodyPr/>
          <a:lstStyle/>
          <a:p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-1828800" y="-2377440"/>
            <a:ext cx="5486400" cy="5486400"/>
          </a:xfrm>
          <a:prstGeom prst="ellipse">
            <a:avLst/>
          </a:prstGeom>
          <a:solidFill>
            <a:srgbClr val="1A14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502920" y="603504"/>
            <a:ext cx="201168" cy="0"/>
          </a:xfrm>
          <a:prstGeom prst="line">
            <a:avLst/>
          </a:prstGeom>
          <a:noFill/>
          <a:ln w="19050">
            <a:solidFill>
              <a:srgbClr val="D9D3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95528" y="502920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D3E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VIVO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822960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kern="0" spc="-5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Demo del sistema.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4742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9C3D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 comparte pantalla y se demuestra cómo funciona la demo, y cómo administrarlo.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272388" y="2331720"/>
            <a:ext cx="2880360" cy="1600200"/>
          </a:xfrm>
          <a:prstGeom prst="roundRect">
            <a:avLst>
              <a:gd name="adj" fmla="val 8000"/>
            </a:avLst>
          </a:prstGeom>
          <a:solidFill>
            <a:srgbClr val="1A16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2328520" y="2551176"/>
            <a:ext cx="768096" cy="768096"/>
          </a:xfrm>
          <a:prstGeom prst="ellipse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0" name="Image 0" descr="/home/claude/hostel_dec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688" y="2752344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2388" y="34290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Buscar fechas</a:t>
            </a:r>
            <a:endParaRPr lang="en-US" sz="1300" dirty="0"/>
          </a:p>
        </p:txBody>
      </p:sp>
      <p:pic>
        <p:nvPicPr>
          <p:cNvPr id="12" name="Image 1" descr="/home/claude/hostel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044" y="2898648"/>
            <a:ext cx="338328" cy="3383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655668" y="2331720"/>
            <a:ext cx="2880360" cy="1600200"/>
          </a:xfrm>
          <a:prstGeom prst="roundRect">
            <a:avLst>
              <a:gd name="adj" fmla="val 8000"/>
            </a:avLst>
          </a:prstGeom>
          <a:solidFill>
            <a:srgbClr val="1A1626"/>
          </a:solidFill>
          <a:ln w="9525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0"/>
          <p:cNvSpPr/>
          <p:nvPr/>
        </p:nvSpPr>
        <p:spPr>
          <a:xfrm>
            <a:off x="5711800" y="2551176"/>
            <a:ext cx="768096" cy="768096"/>
          </a:xfrm>
          <a:prstGeom prst="ellipse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 dirty="0"/>
          </a:p>
        </p:txBody>
      </p:sp>
      <p:pic>
        <p:nvPicPr>
          <p:cNvPr id="15" name="Image 2" descr="/home/claude/hostel_deck/icons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968" y="2752344"/>
            <a:ext cx="365760" cy="365760"/>
          </a:xfrm>
          <a:prstGeom prst="rect">
            <a:avLst/>
          </a:prstGeom>
          <a:solidFill>
            <a:srgbClr val="E8006E"/>
          </a:solidFill>
          <a:ln>
            <a:noFill/>
          </a:ln>
        </p:spPr>
      </p:pic>
      <p:sp>
        <p:nvSpPr>
          <p:cNvPr id="16" name="Text 11"/>
          <p:cNvSpPr/>
          <p:nvPr/>
        </p:nvSpPr>
        <p:spPr>
          <a:xfrm>
            <a:off x="4655668" y="34290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 disponibilidad</a:t>
            </a:r>
            <a:endParaRPr lang="en-US" sz="1300" dirty="0"/>
          </a:p>
        </p:txBody>
      </p:sp>
      <p:pic>
        <p:nvPicPr>
          <p:cNvPr id="17" name="Image 3" descr="/home/claude/hostel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324" y="2898648"/>
            <a:ext cx="338328" cy="33832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38948" y="2331720"/>
            <a:ext cx="2880360" cy="1600200"/>
          </a:xfrm>
          <a:prstGeom prst="roundRect">
            <a:avLst>
              <a:gd name="adj" fmla="val 8000"/>
            </a:avLst>
          </a:prstGeom>
          <a:solidFill>
            <a:srgbClr val="1A1626"/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3"/>
          <p:cNvSpPr/>
          <p:nvPr/>
        </p:nvSpPr>
        <p:spPr>
          <a:xfrm>
            <a:off x="9095080" y="2551176"/>
            <a:ext cx="768096" cy="768096"/>
          </a:xfrm>
          <a:prstGeom prst="ellipse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4" descr="/home/claude/hostel_deck/icons/check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248" y="2752344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38948" y="34290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Reservar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2264741" y="462686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3" name="Image 5" descr="/home/claude/hostel_deck/icons/creditc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0471" y="4752594"/>
            <a:ext cx="251460" cy="2514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950541" y="458114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Pagos online 24/7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2950541" y="48828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Cobros integrados (Mercado Pago), señas automáticas sin fricción.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324448" y="46177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7" name="Image 6" descr="/home/claude/hostel_deck/icons/smartph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0178" y="4743450"/>
            <a:ext cx="251460" cy="2514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10248" y="45720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Mobile First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7010248" y="48737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Pensado para reservar desde el celular.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502920" y="6199632"/>
            <a:ext cx="237744" cy="237744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Text 22"/>
          <p:cNvSpPr/>
          <p:nvPr/>
        </p:nvSpPr>
        <p:spPr>
          <a:xfrm>
            <a:off x="502920" y="6199632"/>
            <a:ext cx="23774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1500" dirty="0"/>
          </a:p>
        </p:txBody>
      </p:sp>
      <p:sp>
        <p:nvSpPr>
          <p:cNvPr id="32" name="Text 23"/>
          <p:cNvSpPr/>
          <p:nvPr/>
        </p:nvSpPr>
        <p:spPr>
          <a:xfrm>
            <a:off x="704088" y="6199632"/>
            <a:ext cx="14598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dirty="0"/>
          </a:p>
        </p:txBody>
      </p:sp>
      <p:sp>
        <p:nvSpPr>
          <p:cNvPr id="33" name="Text 2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>
                    <a:alpha val="3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 López Posada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>
                    <a:alpha val="35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12191695" cy="6903720"/>
          </a:xfrm>
          <a:prstGeom prst="rect">
            <a:avLst/>
          </a:prstGeom>
          <a:solidFill>
            <a:srgbClr val="F7F7FB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502920" y="557784"/>
            <a:ext cx="201168" cy="0"/>
          </a:xfrm>
          <a:prstGeom prst="line">
            <a:avLst/>
          </a:prstGeom>
          <a:noFill/>
          <a:ln w="19050">
            <a:solidFill>
              <a:srgbClr val="E8006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457200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PAQUETE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22960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kern="0" spc="-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¿Qué incluye?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4284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Todo lo necesario para operar de forma independiente, desde el primer día.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11185855" cy="3977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3299384" y="1965960"/>
            <a:ext cx="0" cy="3977640"/>
          </a:xfrm>
          <a:prstGeom prst="line">
            <a:avLst/>
          </a:prstGeom>
          <a:noFill/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6095848" y="1965960"/>
            <a:ext cx="0" cy="3977640"/>
          </a:xfrm>
          <a:prstGeom prst="line">
            <a:avLst/>
          </a:prstGeom>
          <a:noFill/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8892311" y="1965960"/>
            <a:ext cx="0" cy="3977640"/>
          </a:xfrm>
          <a:prstGeom prst="line">
            <a:avLst/>
          </a:prstGeom>
          <a:noFill/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758952" y="2240280"/>
            <a:ext cx="2339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50" dirty="0">
                <a:solidFill>
                  <a:srgbClr val="000000">
                    <a:alpha val="8000"/>
                  </a:srgbClr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58952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3" name="Image 0" descr="/home/claude/hostel_deck/icons/lay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13182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952" y="3657600"/>
            <a:ext cx="2293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Landing page web responsive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58952" y="4480560"/>
            <a:ext cx="2293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Diseño personalizado adaptado a la estética de Casa López y mobile-first.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911596"/>
            <a:ext cx="2796464" cy="32004"/>
          </a:xfrm>
          <a:prstGeom prst="rect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4"/>
          <p:cNvSpPr/>
          <p:nvPr/>
        </p:nvSpPr>
        <p:spPr>
          <a:xfrm>
            <a:off x="3555416" y="2240280"/>
            <a:ext cx="2339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50" dirty="0">
                <a:solidFill>
                  <a:srgbClr val="000000">
                    <a:alpha val="8000"/>
                  </a:srgbClr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02</a:t>
            </a:r>
            <a:endParaRPr lang="en-US" sz="3400" dirty="0"/>
          </a:p>
        </p:txBody>
      </p:sp>
      <p:sp>
        <p:nvSpPr>
          <p:cNvPr id="18" name="Shape 15"/>
          <p:cNvSpPr/>
          <p:nvPr/>
        </p:nvSpPr>
        <p:spPr>
          <a:xfrm>
            <a:off x="3555416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9" name="Image 1" descr="/home/claude/hostel_deck/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716" y="313182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55416" y="3657600"/>
            <a:ext cx="2293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Motor de reservas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3555416" y="4480560"/>
            <a:ext cx="2293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Disponibilidad en tiempo real: opción Cloudbeds o PMS propia basada en iCal.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299384" y="5911596"/>
            <a:ext cx="2796464" cy="32004"/>
          </a:xfrm>
          <a:prstGeom prst="rect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19"/>
          <p:cNvSpPr/>
          <p:nvPr/>
        </p:nvSpPr>
        <p:spPr>
          <a:xfrm>
            <a:off x="6351880" y="2240280"/>
            <a:ext cx="2339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50" dirty="0">
                <a:solidFill>
                  <a:srgbClr val="000000">
                    <a:alpha val="8000"/>
                  </a:srgbClr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03</a:t>
            </a:r>
            <a:endParaRPr lang="en-US" sz="3400" dirty="0"/>
          </a:p>
        </p:txBody>
      </p:sp>
      <p:sp>
        <p:nvSpPr>
          <p:cNvPr id="24" name="Shape 20"/>
          <p:cNvSpPr/>
          <p:nvPr/>
        </p:nvSpPr>
        <p:spPr>
          <a:xfrm>
            <a:off x="6351880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5" name="Image 2" descr="/home/claude/hostel_deck/icons/penTo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180" y="313182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1880" y="3657600"/>
            <a:ext cx="2293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Pagos online 24/7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351880" y="4480560"/>
            <a:ext cx="2293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Cobro automatizado de señas por Mercado Pago sin comisión de software.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095848" y="5911596"/>
            <a:ext cx="2796464" cy="32004"/>
          </a:xfrm>
          <a:prstGeom prst="rect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Text 24"/>
          <p:cNvSpPr/>
          <p:nvPr/>
        </p:nvSpPr>
        <p:spPr>
          <a:xfrm>
            <a:off x="9148343" y="2240280"/>
            <a:ext cx="2339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-150" dirty="0">
                <a:solidFill>
                  <a:srgbClr val="000000">
                    <a:alpha val="8000"/>
                  </a:srgbClr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04</a:t>
            </a:r>
            <a:endParaRPr lang="en-US" sz="3400" dirty="0"/>
          </a:p>
        </p:txBody>
      </p:sp>
      <p:sp>
        <p:nvSpPr>
          <p:cNvPr id="30" name="Shape 25"/>
          <p:cNvSpPr/>
          <p:nvPr/>
        </p:nvSpPr>
        <p:spPr>
          <a:xfrm>
            <a:off x="9148343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DE6F0"/>
          </a:solidFill>
          <a:ln w="9525">
            <a:solidFill>
              <a:srgbClr val="E800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1" name="Image 3" descr="/home/claude/hostel_deck/icons/pack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643" y="313182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48343" y="3657600"/>
            <a:ext cx="22935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Soberanía y entrega total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9148343" y="4480560"/>
            <a:ext cx="22935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Propiedad de cuenta Host (oficina central S.N.) + GitHub + datos en sus manos.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8892311" y="5911596"/>
            <a:ext cx="2796464" cy="32004"/>
          </a:xfrm>
          <a:prstGeom prst="rect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5" name="Shape 29"/>
          <p:cNvSpPr/>
          <p:nvPr/>
        </p:nvSpPr>
        <p:spPr>
          <a:xfrm>
            <a:off x="502920" y="6199632"/>
            <a:ext cx="237744" cy="237744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0"/>
          <p:cNvSpPr/>
          <p:nvPr/>
        </p:nvSpPr>
        <p:spPr>
          <a:xfrm>
            <a:off x="502920" y="6217920"/>
            <a:ext cx="23774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04088" y="6199632"/>
            <a:ext cx="1115187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 López Posada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502920" y="603504"/>
            <a:ext cx="201168" cy="0"/>
          </a:xfrm>
          <a:prstGeom prst="line">
            <a:avLst/>
          </a:prstGeom>
          <a:noFill/>
          <a:ln w="19050">
            <a:solidFill>
              <a:srgbClr val="E8006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50292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SOBERANÍA DIGITAL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32104"/>
            <a:ext cx="4114800" cy="1242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700" b="1" kern="0" spc="-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Ustedes son</a:t>
            </a:r>
            <a:endParaRPr lang="en-US" sz="2700" dirty="0"/>
          </a:p>
          <a:p>
            <a:pPr marL="0" indent="0">
              <a:lnSpc>
                <a:spcPts val="2900"/>
              </a:lnSpc>
              <a:buNone/>
            </a:pPr>
            <a:r>
              <a:rPr lang="en-US" sz="2700" b="1" kern="0" spc="-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dueños de</a:t>
            </a:r>
            <a:endParaRPr lang="en-US" sz="2700" dirty="0"/>
          </a:p>
          <a:p>
            <a:pPr marL="0" indent="0">
              <a:lnSpc>
                <a:spcPts val="2900"/>
              </a:lnSpc>
              <a:buNone/>
            </a:pPr>
            <a:r>
              <a:rPr lang="en-US" sz="2700" b="1" kern="0" spc="-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todo.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214731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 plataformas de alquiler dan velocidad a corto plazo pero cobran para siempre. Con Burdev, se invierte una vez y el sistema es suyo.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594360"/>
            <a:ext cx="6751015" cy="2505456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4937760" y="594360"/>
            <a:ext cx="6751015" cy="457200"/>
          </a:xfrm>
          <a:prstGeom prst="rect">
            <a:avLst/>
          </a:prstGeom>
          <a:solidFill>
            <a:srgbClr val="F7F2F5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166360" y="594360"/>
            <a:ext cx="20667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CONCEPTO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233105" y="594360"/>
            <a:ext cx="22278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 BURDEV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460940" y="594360"/>
            <a:ext cx="22278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 BOOKING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1051560"/>
            <a:ext cx="206674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Comisiones</a:t>
            </a:r>
            <a:endParaRPr lang="en-US" sz="1050" dirty="0"/>
          </a:p>
        </p:txBody>
      </p:sp>
      <p:pic>
        <p:nvPicPr>
          <p:cNvPr id="13" name="Image 0" descr="/home/claude/hostel_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105" y="1239012"/>
            <a:ext cx="137160" cy="1371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34273" y="1051560"/>
            <a:ext cx="202666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0% siempre (-20% OTAs)</a:t>
            </a:r>
            <a:endParaRPr lang="en-US" sz="1050" dirty="0"/>
          </a:p>
        </p:txBody>
      </p:sp>
      <p:pic>
        <p:nvPicPr>
          <p:cNvPr id="15" name="Image 1" descr="/home/claude/hostel_deck/icons/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940" y="1239012"/>
            <a:ext cx="137160" cy="1371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62108" y="1051560"/>
            <a:ext cx="202666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Por reserva (15–20%)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937760" y="1563624"/>
            <a:ext cx="6751015" cy="0"/>
          </a:xfrm>
          <a:prstGeom prst="line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4"/>
          <p:cNvSpPr/>
          <p:nvPr/>
        </p:nvSpPr>
        <p:spPr>
          <a:xfrm>
            <a:off x="5166360" y="1563624"/>
            <a:ext cx="206674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 de datos</a:t>
            </a:r>
            <a:endParaRPr lang="en-US" sz="1050" dirty="0"/>
          </a:p>
        </p:txBody>
      </p:sp>
      <p:pic>
        <p:nvPicPr>
          <p:cNvPr id="19" name="Image 2" descr="/home/claude/hostel_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105" y="1751076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34273" y="1563624"/>
            <a:ext cx="202666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GitHub + Hosting gratis</a:t>
            </a:r>
            <a:endParaRPr lang="en-US" sz="1050" dirty="0"/>
          </a:p>
        </p:txBody>
      </p:sp>
      <p:pic>
        <p:nvPicPr>
          <p:cNvPr id="21" name="Image 3" descr="/home/claude/hostel_deck/icons/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940" y="1751076"/>
            <a:ext cx="137160" cy="1371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62108" y="1563624"/>
            <a:ext cx="202666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Datos de Booking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937760" y="2075688"/>
            <a:ext cx="6751015" cy="0"/>
          </a:xfrm>
          <a:prstGeom prst="line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18"/>
          <p:cNvSpPr/>
          <p:nvPr/>
        </p:nvSpPr>
        <p:spPr>
          <a:xfrm>
            <a:off x="5166360" y="2075688"/>
            <a:ext cx="206674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Independencia</a:t>
            </a:r>
            <a:endParaRPr lang="en-US" sz="1050" dirty="0"/>
          </a:p>
        </p:txBody>
      </p:sp>
      <p:pic>
        <p:nvPicPr>
          <p:cNvPr id="25" name="Image 4" descr="/home/claude/hostel_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105" y="2263140"/>
            <a:ext cx="137160" cy="1371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34273" y="2075688"/>
            <a:ext cx="202666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Propiedad cuenta Host (S.N.)</a:t>
            </a:r>
            <a:endParaRPr lang="en-US" sz="1050" dirty="0"/>
          </a:p>
        </p:txBody>
      </p:sp>
      <p:pic>
        <p:nvPicPr>
          <p:cNvPr id="27" name="Image 5" descr="/home/claude/hostel_deck/icons/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940" y="2263140"/>
            <a:ext cx="137160" cy="1371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62108" y="2075688"/>
            <a:ext cx="202666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Atada a la plataforma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4937760" y="2587752"/>
            <a:ext cx="6751015" cy="0"/>
          </a:xfrm>
          <a:prstGeom prst="line">
            <a:avLst/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2"/>
          <p:cNvSpPr/>
          <p:nvPr/>
        </p:nvSpPr>
        <p:spPr>
          <a:xfrm>
            <a:off x="5166360" y="2587752"/>
            <a:ext cx="206674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Costo mensual</a:t>
            </a:r>
            <a:endParaRPr lang="en-US" sz="1050" dirty="0"/>
          </a:p>
        </p:txBody>
      </p:sp>
      <p:pic>
        <p:nvPicPr>
          <p:cNvPr id="31" name="Image 6" descr="/home/claude/hostel_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105" y="2775204"/>
            <a:ext cx="137160" cy="1371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434273" y="2587752"/>
            <a:ext cx="202666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$0 / mes (-USD 100 CM)</a:t>
            </a:r>
            <a:endParaRPr lang="en-US" sz="1050" dirty="0"/>
          </a:p>
        </p:txBody>
      </p:sp>
      <p:pic>
        <p:nvPicPr>
          <p:cNvPr id="33" name="Image 7" descr="/home/claude/hostel_deck/icons/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940" y="2775204"/>
            <a:ext cx="137160" cy="1371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662108" y="2587752"/>
            <a:ext cx="202666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 costo, pero con comisión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502920" y="4709160"/>
            <a:ext cx="2673020" cy="1234440"/>
          </a:xfrm>
          <a:prstGeom prst="roundRect">
            <a:avLst>
              <a:gd name="adj" fmla="val 7407"/>
            </a:avLst>
          </a:prstGeom>
          <a:solidFill>
            <a:srgbClr val="F7F7FB"/>
          </a:solidFill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26"/>
          <p:cNvSpPr/>
          <p:nvPr/>
        </p:nvSpPr>
        <p:spPr>
          <a:xfrm>
            <a:off x="667512" y="4837176"/>
            <a:ext cx="2343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667512" y="5166360"/>
            <a:ext cx="23438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Propiedad y decisión total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3340532" y="4709160"/>
            <a:ext cx="2673020" cy="1234440"/>
          </a:xfrm>
          <a:prstGeom prst="roundRect">
            <a:avLst>
              <a:gd name="adj" fmla="val 7407"/>
            </a:avLst>
          </a:prstGeom>
          <a:solidFill>
            <a:srgbClr val="F7F7FB"/>
          </a:solidFill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29"/>
          <p:cNvSpPr/>
          <p:nvPr/>
        </p:nvSpPr>
        <p:spPr>
          <a:xfrm>
            <a:off x="3505124" y="4837176"/>
            <a:ext cx="2343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3505124" y="5166360"/>
            <a:ext cx="23438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Hosting gratis para siempre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6178144" y="4709160"/>
            <a:ext cx="2673020" cy="1234440"/>
          </a:xfrm>
          <a:prstGeom prst="roundRect">
            <a:avLst>
              <a:gd name="adj" fmla="val 7407"/>
            </a:avLst>
          </a:prstGeom>
          <a:solidFill>
            <a:srgbClr val="F7F7FB"/>
          </a:solidFill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2" name="Text 32"/>
          <p:cNvSpPr/>
          <p:nvPr/>
        </p:nvSpPr>
        <p:spPr>
          <a:xfrm>
            <a:off x="6342736" y="4837176"/>
            <a:ext cx="2343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6342736" y="5166360"/>
            <a:ext cx="23438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-20% de comisión de OTAs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9015755" y="4709160"/>
            <a:ext cx="2673020" cy="1234440"/>
          </a:xfrm>
          <a:prstGeom prst="roundRect">
            <a:avLst>
              <a:gd name="adj" fmla="val 7407"/>
            </a:avLst>
          </a:prstGeom>
          <a:solidFill>
            <a:srgbClr val="F7F7FB"/>
          </a:solidFill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35"/>
          <p:cNvSpPr/>
          <p:nvPr/>
        </p:nvSpPr>
        <p:spPr>
          <a:xfrm>
            <a:off x="9180347" y="4837176"/>
            <a:ext cx="2343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9180347" y="5166360"/>
            <a:ext cx="23438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-USD 100/mes Channel Manager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502920" y="6199632"/>
            <a:ext cx="237744" cy="237744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8" name="Text 38"/>
          <p:cNvSpPr/>
          <p:nvPr/>
        </p:nvSpPr>
        <p:spPr>
          <a:xfrm>
            <a:off x="502920" y="6199632"/>
            <a:ext cx="23774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1500" dirty="0"/>
          </a:p>
        </p:txBody>
      </p:sp>
      <p:sp>
        <p:nvSpPr>
          <p:cNvPr id="49" name="Text 39"/>
          <p:cNvSpPr/>
          <p:nvPr/>
        </p:nvSpPr>
        <p:spPr>
          <a:xfrm>
            <a:off x="740664" y="6199632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 López Posada</a:t>
            </a:r>
            <a:endParaRPr lang="en-US" sz="950" dirty="0"/>
          </a:p>
        </p:txBody>
      </p:sp>
      <p:sp>
        <p:nvSpPr>
          <p:cNvPr id="51" name="Text 41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3" name="Shape 1"/>
          <p:cNvSpPr/>
          <p:nvPr/>
        </p:nvSpPr>
        <p:spPr>
          <a:xfrm>
            <a:off x="502920" y="557784"/>
            <a:ext cx="201168" cy="0"/>
          </a:xfrm>
          <a:prstGeom prst="line">
            <a:avLst/>
          </a:prstGeom>
          <a:noFill/>
          <a:ln w="19050">
            <a:solidFill>
              <a:srgbClr val="E8006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457200"/>
            <a:ext cx="7936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 INVERSIÓN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229600" cy="56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kern="0" spc="-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Inversión.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4284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Pago único. Sin comisión por reserva, sin abono mensual.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534924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 w="9525">
            <a:solidFill>
              <a:srgbClr val="00000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INTEGRACIÓN CLOUDBEDS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624328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1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$1.600.000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Pago único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794760"/>
            <a:ext cx="4526280" cy="0"/>
          </a:xfrm>
          <a:prstGeom prst="line">
            <a:avLst/>
          </a:prstGeom>
          <a:noFill/>
          <a:ln w="9525">
            <a:solidFill>
              <a:srgbClr val="00000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12" name="Image 0" descr="/home/claude/hostel_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0792"/>
            <a:ext cx="146304" cy="1463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39776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Landing page + Motor Cloudbeds</a:t>
            </a:r>
            <a:endParaRPr lang="en-US" sz="1200" dirty="0"/>
          </a:p>
        </p:txBody>
      </p:sp>
      <p:pic>
        <p:nvPicPr>
          <p:cNvPr id="14" name="Image 1" descr="/home/claude/hostel_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07992"/>
            <a:ext cx="146304" cy="1463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44348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Motor corporativo conectado</a:t>
            </a:r>
            <a:endParaRPr lang="en-US" sz="1200" dirty="0"/>
          </a:p>
        </p:txBody>
      </p:sp>
      <p:pic>
        <p:nvPicPr>
          <p:cNvPr id="16" name="Image 2" descr="/home/claude/hostel_dec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65192"/>
            <a:ext cx="146304" cy="1463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48920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 comisión por reserva (0% Burdev)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829800" y="1280160"/>
            <a:ext cx="2103120" cy="2103120"/>
          </a:xfrm>
          <a:prstGeom prst="ellipse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4"/>
          <p:cNvSpPr/>
          <p:nvPr/>
        </p:nvSpPr>
        <p:spPr>
          <a:xfrm>
            <a:off x="6217920" y="1837944"/>
            <a:ext cx="5349240" cy="4233672"/>
          </a:xfrm>
          <a:prstGeom prst="roundRect">
            <a:avLst>
              <a:gd name="adj" fmla="val 3456"/>
            </a:avLst>
          </a:prstGeom>
          <a:solidFill>
            <a:srgbClr val="0B0B12"/>
          </a:solidFill>
          <a:ln/>
          <a:effectLst>
            <a:outerShdw blurRad="203200" dist="635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20" name="Text 15"/>
          <p:cNvSpPr/>
          <p:nvPr/>
        </p:nvSpPr>
        <p:spPr>
          <a:xfrm>
            <a:off x="6629400" y="222199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7F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PMS PROPIA (iCal)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629400" y="251460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-15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$2.000.000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6629400" y="322783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Pago único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629400" y="3685032"/>
            <a:ext cx="452628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4" name="Image 3" descr="/home/claude/hostel_deck/icons/check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941064"/>
            <a:ext cx="146304" cy="14630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611112" y="3922776"/>
            <a:ext cx="182880" cy="182880"/>
          </a:xfrm>
          <a:prstGeom prst="ellipse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6" name="Image 4" descr="/home/claude/hostel_deck/icons/check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3945636"/>
            <a:ext cx="137160" cy="1371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03720" y="38679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Landing + PMS propia integrada (iCal)</a:t>
            </a:r>
            <a:endParaRPr lang="en-US" sz="1200" dirty="0"/>
          </a:p>
        </p:txBody>
      </p:sp>
      <p:pic>
        <p:nvPicPr>
          <p:cNvPr id="28" name="Image 5" descr="/home/claude/hostel_deck/icons/check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361688"/>
            <a:ext cx="146304" cy="146304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611112" y="4343400"/>
            <a:ext cx="182880" cy="182880"/>
          </a:xfrm>
          <a:prstGeom prst="ellipse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0" name="Image 6" descr="/home/claude/hostel_deck/icons/check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366260"/>
            <a:ext cx="137160" cy="1371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03720" y="428853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-USD 100/mes costo Channel Manager</a:t>
            </a:r>
            <a:endParaRPr lang="en-US" sz="1200" dirty="0"/>
          </a:p>
        </p:txBody>
      </p:sp>
      <p:pic>
        <p:nvPicPr>
          <p:cNvPr id="32" name="Image 7" descr="/home/claude/hostel_deck/icons/check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782312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611112" y="4764024"/>
            <a:ext cx="182880" cy="182880"/>
          </a:xfrm>
          <a:prstGeom prst="ellipse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4" name="Image 8" descr="/home/claude/hostel_deck/icons/check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786884"/>
            <a:ext cx="137160" cy="1371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903720" y="470916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E8E4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Hosting gratis — online para siempre</a:t>
            </a:r>
            <a:endParaRPr lang="en-US" sz="1200" dirty="0"/>
          </a:p>
        </p:txBody>
      </p:sp>
      <p:pic>
        <p:nvPicPr>
          <p:cNvPr id="36" name="Image 9" descr="/home/claude/hostel_deck/icons/check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5202936"/>
            <a:ext cx="146304" cy="146304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6611112" y="5184648"/>
            <a:ext cx="182880" cy="182880"/>
          </a:xfrm>
          <a:prstGeom prst="ellipse">
            <a:avLst/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38" name="Image 10" descr="/home/claude/hostel_deck/icons/check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207508"/>
            <a:ext cx="137160" cy="13716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903720" y="512978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F0"/>
                </a:solidFill>
                <a:latin typeface="Plus Jakarta Sans" pitchFamily="34" charset="0"/>
                <a:ea typeface="Plus Jakarta Sans" pitchFamily="34" charset="-122"/>
              </a:rPr>
              <a:t>Propiedad y decisión total del sistema</a:t>
            </a:r>
            <a:endParaRPr lang="en-US" sz="1200" dirty="0"/>
          </a:p>
        </p:txBody>
      </p:sp>
      <p:sp>
        <p:nvSpPr>
          <p:cNvPr id="40" name="Shape 27"/>
          <p:cNvSpPr/>
          <p:nvPr/>
        </p:nvSpPr>
        <p:spPr>
          <a:xfrm>
            <a:off x="502920" y="6199632"/>
            <a:ext cx="237744" cy="237744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1" name="Text 28"/>
          <p:cNvSpPr/>
          <p:nvPr/>
        </p:nvSpPr>
        <p:spPr>
          <a:xfrm>
            <a:off x="502920" y="6199632"/>
            <a:ext cx="23774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1500" dirty="0"/>
          </a:p>
        </p:txBody>
      </p:sp>
      <p:sp>
        <p:nvSpPr>
          <p:cNvPr id="42" name="Text 29"/>
          <p:cNvSpPr/>
          <p:nvPr/>
        </p:nvSpPr>
        <p:spPr>
          <a:xfrm>
            <a:off x="740664" y="6199632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sz="1300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sz="1300" dirty="0"/>
          </a:p>
        </p:txBody>
      </p:sp>
      <p:sp>
        <p:nvSpPr>
          <p:cNvPr id="43" name="Text 3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 López Posada</a:t>
            </a:r>
            <a:endParaRPr lang="en-US" sz="950" dirty="0"/>
          </a:p>
        </p:txBody>
      </p:sp>
      <p:sp>
        <p:nvSpPr>
          <p:cNvPr id="44" name="Text 31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502920" y="557784"/>
            <a:ext cx="201168" cy="0"/>
          </a:xfrm>
          <a:prstGeom prst="line">
            <a:avLst/>
          </a:prstGeom>
          <a:noFill/>
          <a:ln w="19050">
            <a:solidFill>
              <a:srgbClr val="E8006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/>
          <p:nvPr/>
        </p:nvSpPr>
        <p:spPr>
          <a:xfrm>
            <a:off x="795528" y="457200"/>
            <a:ext cx="8394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CÓMO TRABAJAMOS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8686800" cy="543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kern="0" spc="-50" dirty="0">
                <a:solidFill>
                  <a:srgbClr val="0B0B12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Del brief al lanzamiento.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403096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 proceso transparente y ágil: siempre se sabe en qué etapa está el proyecto.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71600" y="3429000"/>
            <a:ext cx="9448495" cy="0"/>
          </a:xfrm>
          <a:prstGeom prst="line">
            <a:avLst/>
          </a:prstGeom>
          <a:noFill/>
          <a:ln w="12700">
            <a:solidFill>
              <a:srgbClr val="00000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2253996" y="3099816"/>
            <a:ext cx="658368" cy="658368"/>
          </a:xfrm>
          <a:prstGeom prst="ellipse">
            <a:avLst/>
          </a:prstGeom>
          <a:solidFill>
            <a:srgbClr val="E8006E"/>
          </a:solidFill>
          <a:ln w="50800">
            <a:solidFill>
              <a:srgbClr val="F7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2253996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931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Desarrollo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44752" y="4325112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a 3 semanas de trabajo en diseño y funcionalidad.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95774" y="3099816"/>
            <a:ext cx="658368" cy="658368"/>
          </a:xfrm>
          <a:prstGeom prst="ellipse">
            <a:avLst/>
          </a:prstGeom>
          <a:solidFill>
            <a:srgbClr val="E8006E"/>
          </a:solidFill>
          <a:ln w="50800">
            <a:solidFill>
              <a:srgbClr val="F7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4595774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3378" y="3931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Revisiones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86530" y="4325112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 err="1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Rondas</a:t>
            </a:r>
            <a:r>
              <a:rPr lang="en-US" sz="110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de ajustes junto al equipo de la posada.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37553" y="3099816"/>
            <a:ext cx="658368" cy="658368"/>
          </a:xfrm>
          <a:prstGeom prst="ellipse">
            <a:avLst/>
          </a:prstGeom>
          <a:solidFill>
            <a:srgbClr val="E8006E"/>
          </a:solidFill>
          <a:ln w="50800">
            <a:solidFill>
              <a:srgbClr val="F7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6937553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55157" y="3931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Capacitación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8309" y="4325112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Sesiones para aprender a administrar el sistema.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79331" y="3099816"/>
            <a:ext cx="658368" cy="658368"/>
          </a:xfrm>
          <a:prstGeom prst="ellipse">
            <a:avLst/>
          </a:prstGeom>
          <a:solidFill>
            <a:srgbClr val="E8006E"/>
          </a:solidFill>
          <a:ln w="50800">
            <a:solidFill>
              <a:srgbClr val="F7F7F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9279331" y="30998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96935" y="3931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Entrega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70087" y="4325112"/>
            <a:ext cx="22768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6B6B8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Repositorio GitHub, cuentas de Host y datos entregados por completo.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6199632"/>
            <a:ext cx="237744" cy="237744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502920" y="6199632"/>
            <a:ext cx="23774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0664" y="6199632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0B1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 López Posada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2315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898B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12"/>
          </a:solidFill>
          <a:ln/>
        </p:spPr>
        <p:txBody>
          <a:bodyPr/>
          <a:lstStyle/>
          <a:p>
            <a:r>
              <a:rPr lang="es-MX"/>
              <a:t>-87P9</a:t>
            </a:r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1A14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>
            <a:off x="9144000" y="-2377440"/>
            <a:ext cx="5486400" cy="5486400"/>
          </a:xfrm>
          <a:prstGeom prst="ellipse">
            <a:avLst/>
          </a:prstGeom>
          <a:solidFill>
            <a:srgbClr val="1A142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37744" cy="237744"/>
          </a:xfrm>
          <a:prstGeom prst="roundRect">
            <a:avLst>
              <a:gd name="adj" fmla="val 17308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23774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0664" y="457200"/>
            <a:ext cx="1554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Burdev</a:t>
            </a:r>
            <a:r>
              <a:rPr lang="en-US" b="1" dirty="0">
                <a:solidFill>
                  <a:srgbClr val="E8006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23317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C9A8C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269748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-200" dirty="0">
                <a:solidFill>
                  <a:srgbClr val="FFFFFF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¿Comenzamos</a:t>
            </a:r>
            <a:r>
              <a:rPr lang="en-US" sz="5400" b="1" kern="0" spc="-200" dirty="0">
                <a:solidFill>
                  <a:schemeClr val="bg1"/>
                </a:solidFill>
                <a:latin typeface="Plus Jakarta Sans ExtraBold" pitchFamily="34" charset="0"/>
                <a:ea typeface="Plus Jakarta Sans ExtraBold" pitchFamily="34" charset="-122"/>
                <a:cs typeface="Plus Jakarta Sans ExtraBold" pitchFamily="34" charset="-120"/>
              </a:rPr>
              <a:t>?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32808" y="4160520"/>
            <a:ext cx="2926080" cy="594360"/>
          </a:xfrm>
          <a:prstGeom prst="roundRect">
            <a:avLst>
              <a:gd name="adj" fmla="val 50000"/>
            </a:avLst>
          </a:prstGeom>
          <a:solidFill>
            <a:srgbClr val="E8006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632808" y="41605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Hablar con Burdev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98568" y="5166360"/>
            <a:ext cx="2194560" cy="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0" y="53492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Casa López Posada  ×  Burdev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© 2026 Burdev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1749</TotalTime>
  <Words>693</Words>
  <Application>Microsoft Office PowerPoint</Application>
  <PresentationFormat>Panorámica</PresentationFormat>
  <Paragraphs>166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Plus Jakarta Sans</vt:lpstr>
      <vt:lpstr>Plus Jakarta Sans ExtraBold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 l490</cp:lastModifiedBy>
  <cp:revision>1</cp:revision>
  <dcterms:created xsi:type="dcterms:W3CDTF">2026-08-19T22:26:07Z</dcterms:created>
  <dcterms:modified xsi:type="dcterms:W3CDTF">2026-09-23T02:00:13Z</dcterms:modified>
</cp:coreProperties>
</file>